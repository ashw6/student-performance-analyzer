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%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Maths</c:v>
                  </c:pt>
                  <c:pt idx="1">
                    <c:v>Physics</c:v>
                  </c:pt>
                  <c:pt idx="2">
                    <c:v>CS</c:v>
                  </c:pt>
                  <c:pt idx="3">
                    <c:v>English</c:v>
                  </c:pt>
                  <c:pt idx="4">
                    <c:v>Chemistry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</c:v>
                </c:pt>
                <c:pt idx="1">
                  <c:v>78</c:v>
                </c:pt>
                <c:pt idx="2">
                  <c:v>88</c:v>
                </c:pt>
                <c:pt idx="3">
                  <c:v>65</c:v>
                </c:pt>
                <c:pt idx="4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DF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548640"/>
            <a:ext cx="2743200" cy="2743200"/>
          </a:xfrm>
          <a:prstGeom prst="ellipse">
            <a:avLst/>
          </a:prstGeom>
          <a:solidFill>
            <a:srgbClr val="3FB950">
              <a:alpha val="10000"/>
            </a:srgbClr>
          </a:solidFill>
          <a:ln w="12700">
            <a:solidFill>
              <a:srgbClr val="3FB95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1828800" cy="301752"/>
          </a:xfrm>
          <a:prstGeom prst="rect">
            <a:avLst>
              <a:gd name="adj" fmla="val 15152"/>
            </a:avLst>
          </a:prstGeom>
          <a:solidFill>
            <a:srgbClr val="58A6FF">
              <a:alpha val="18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8A6FF"/>
                </a:solidFill>
              </a:rPr>
              <a:t>ACADEMIC PORTAL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66928" y="257860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Academic Management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645920" cy="36576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29000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Lecturer Portals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13048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67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&amp; Graphs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97096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1513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Subject Management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Confidential  |  Academic Year 2025–26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Why existing systems fall short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13258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8166"/>
                </a:solidFill>
              </a:rPr>
              <a:t>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Fragmented tools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Attendance, marks, and schedules live in separate disconnected apps.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402336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80160"/>
            <a:ext cx="64008" cy="13258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8166"/>
                </a:solidFill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10912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No real-time insights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Students don't know which subjects they're struggling in until it's too late.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2336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34640"/>
            <a:ext cx="64008" cy="13258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8166"/>
                </a:solidFill>
              </a:rPr>
              <a:t>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Manual lecturer workload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Adding students, tracking marks, and updating grades is slow and error-prone.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834640"/>
            <a:ext cx="402336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834640"/>
            <a:ext cx="64008" cy="132588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8166"/>
                </a:solidFill>
              </a:rPr>
              <a:t>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10912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Zero personalization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No weak/strong subject feedback or predictive performance guidance.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EduPortal  |  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One platform, two portals, complete academic visibility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4747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3474720" cy="457200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8A6FF"/>
                </a:solidFill>
              </a:rPr>
              <a:t>STUDENT PORTAL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47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Dashboard with metrics cards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30428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49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Attendance &amp; marks graphs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706624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51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Subject leaderboard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108960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540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Weak/strong suggestions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511296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456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Course performance 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0" y="1280160"/>
            <a:ext cx="347472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1280160"/>
            <a:ext cx="3474720" cy="457200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2A8FF"/>
                </a:solidFill>
              </a:rPr>
              <a:t>LECTURER PORTAL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32120" y="1901952"/>
            <a:ext cx="91440" cy="914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1847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Dashboard overview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2304288"/>
            <a:ext cx="91440" cy="914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2249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Add / edit / delete students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32120" y="2706624"/>
            <a:ext cx="91440" cy="914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26517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Manage marks &amp; attendance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3108960"/>
            <a:ext cx="91440" cy="914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30540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Subject management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32120" y="3511296"/>
            <a:ext cx="91440" cy="914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3456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Class performance graphs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77640" y="2560320"/>
            <a:ext cx="118872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977640" y="2560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Shared DB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77640" y="29443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SQLite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EduPortal  |  Solution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71323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52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Frontend (HTML/CSS/JS)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Dark UI, navigation buttons, dynamic charts, responsive cards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713232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66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A8FF"/>
                </a:solidFill>
              </a:rPr>
              <a:t>Backend (Flask / Node.js)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359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Route handling, session management, REST APIs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7132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80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Database Layer (SQLite)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273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Students · Lecturers · Subjects · Marks · Attendance tables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40480"/>
            <a:ext cx="73152" cy="713232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953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</a:rPr>
              <a:t>ML Engine (Optional)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187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Performance prediction, weak-area detection, trend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Database Tables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4617720"/>
            <a:ext cx="1097280" cy="256032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students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03320" y="4617720"/>
            <a:ext cx="1097280" cy="256032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lecturers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4617720"/>
            <a:ext cx="1097280" cy="256032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subjects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617720"/>
            <a:ext cx="1097280" cy="256032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marks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80960" y="4617720"/>
            <a:ext cx="1097280" cy="256032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EduPortal  | 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Student Portal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0" y="228600"/>
            <a:ext cx="1188720" cy="411480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228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8A6FF"/>
                </a:solidFill>
              </a:rPr>
              <a:t>STUDENT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828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18288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A6FF"/>
                </a:solidFill>
              </a:rPr>
              <a:t>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Courses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005840"/>
            <a:ext cx="1828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005840"/>
            <a:ext cx="18288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</a:rPr>
              <a:t>87%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146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Attendance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1828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005840"/>
            <a:ext cx="1828800" cy="54864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657"/>
                </a:solidFill>
              </a:rPr>
              <a:t>142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Study Hrs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1005840"/>
            <a:ext cx="1828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1005840"/>
            <a:ext cx="182880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A8FF"/>
                </a:solidFill>
              </a:rPr>
              <a:t>A-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2940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Grade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49631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4414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Navigation: Dashboard · Subjects · Leaderboard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8254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Attendance graph per subject (bar/line chart)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64408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2095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Subject-wise marks performance chart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648456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5935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Leaderboard: top scorers per subject + overall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032504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9776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Weak/strong subject auto-suggestions</a:t>
            </a:r>
            <a:endParaRPr lang="en-US" sz="12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5029200" y="1920240"/>
          <a:ext cx="37490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Text 32"/>
          <p:cNvSpPr/>
          <p:nvPr/>
        </p:nvSpPr>
        <p:spPr>
          <a:xfrm>
            <a:off x="5029200" y="4617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Attendance per Subject (%)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EduPortal  |  Student Portal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</a:rPr>
              <a:t>Lecturer Portal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60920" y="228600"/>
            <a:ext cx="1417320" cy="411480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2286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2A8FF"/>
                </a:solidFill>
              </a:rPr>
              <a:t>LECTURER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Navigation Bar: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1508760" cy="347472"/>
          </a:xfrm>
          <a:prstGeom prst="rect">
            <a:avLst/>
          </a:prstGeom>
          <a:solidFill>
            <a:srgbClr val="58A6FF">
              <a:alpha val="18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98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1298448"/>
            <a:ext cx="1508760" cy="347472"/>
          </a:xfrm>
          <a:prstGeom prst="rect">
            <a:avLst/>
          </a:prstGeom>
          <a:solidFill>
            <a:srgbClr val="3FB950">
              <a:alpha val="1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298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Subjects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298448"/>
            <a:ext cx="1508760" cy="347472"/>
          </a:xfrm>
          <a:prstGeom prst="rect">
            <a:avLst/>
          </a:prstGeom>
          <a:solidFill>
            <a:srgbClr val="D2A8FF">
              <a:alpha val="18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1298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A8FF"/>
                </a:solidFill>
              </a:rPr>
              <a:t>Add Student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1298448"/>
            <a:ext cx="1508760" cy="347472"/>
          </a:xfrm>
          <a:prstGeom prst="rect">
            <a:avLst/>
          </a:prstGeom>
          <a:solidFill>
            <a:srgbClr val="FFA657">
              <a:alpha val="18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298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657"/>
                </a:solidFill>
              </a:rPr>
              <a:t>Edit Student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1298448"/>
            <a:ext cx="1508760" cy="347472"/>
          </a:xfrm>
          <a:prstGeom prst="rect">
            <a:avLst/>
          </a:prstGeom>
          <a:solidFill>
            <a:srgbClr val="F78166">
              <a:alpha val="18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298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8166"/>
                </a:solidFill>
              </a:rPr>
              <a:t>Delete Student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828800"/>
            <a:ext cx="41148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828800"/>
            <a:ext cx="4114800" cy="365760"/>
          </a:xfrm>
          <a:prstGeom prst="rect">
            <a:avLst/>
          </a:prstGeom>
          <a:solidFill>
            <a:srgbClr val="D2A8FF">
              <a:alpha val="18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</a:rPr>
              <a:t>Student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240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Add new students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24688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Edit student info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26974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Delete students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Dedicated pages per 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828800"/>
            <a:ext cx="41148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828800"/>
            <a:ext cx="4114800" cy="365760"/>
          </a:xfrm>
          <a:prstGeom prst="rect">
            <a:avLst/>
          </a:prstGeom>
          <a:solidFill>
            <a:srgbClr val="3FB950">
              <a:alpha val="1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Subject Management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240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Add subjects dynamically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24688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Assign to lecturer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26974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View enrolled count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29260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Subject badges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337560"/>
            <a:ext cx="41148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337560"/>
            <a:ext cx="4114800" cy="365760"/>
          </a:xfrm>
          <a:prstGeom prst="rect">
            <a:avLst/>
          </a:prstGeom>
          <a:solidFill>
            <a:srgbClr val="FFA657">
              <a:alpha val="18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</a:rPr>
              <a:t>Marks &amp; Attendance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3749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Input marks per subject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39776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Update attendance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206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Edit existing records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Subject-wise view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337560"/>
            <a:ext cx="41148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337560"/>
            <a:ext cx="4114800" cy="365760"/>
          </a:xfrm>
          <a:prstGeom prst="rect">
            <a:avLst/>
          </a:prstGeom>
          <a:solidFill>
            <a:srgbClr val="58A6FF">
              <a:alpha val="18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Analytics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92040" y="3749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Class performance graphs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39776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Subject leaderboard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4206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Trend analysis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92040" y="4434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· Avg marks per subject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EduPortal  |  Lecturer Portal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UI Design Highlights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8A6FF"/>
                </a:solidFill>
              </a:rPr>
              <a:t>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Dark Professional Theme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Deep navy/charcoal palette with high-contrast accent colors. Optimized for long study sessions.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91440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914400"/>
            <a:ext cx="265176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FB950"/>
                </a:solidFill>
              </a:rPr>
              <a:t>▣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55848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Metric Cards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7647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Colored cards with glow shadows showing courses, attendance, study hours, and grades at a glance.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91440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914400"/>
            <a:ext cx="265176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2A8FF"/>
                </a:solidFill>
              </a:rPr>
              <a:t>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08776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Vibrant Subject Badges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8776" y="17647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Each subject gets a unique colored pill badge for quick identification across all views.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2651760" cy="54864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A657"/>
                </a:solidFill>
              </a:rPr>
              <a:t>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Interactive Charts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5935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Bar, line, and pie charts for attendance and performance — color-matched to subject badges.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18688" y="274320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743200"/>
            <a:ext cx="265176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8166"/>
                </a:solidFill>
              </a:rPr>
              <a:t>◎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55848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Hover Effects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55848" y="35935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Cards lift with shadow, buttons scale on hover. Smooth transitions throughout the interface.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2743200"/>
            <a:ext cx="26517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2743200"/>
            <a:ext cx="265176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FB950"/>
                </a:solidFill>
              </a:rPr>
              <a:t>⊞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08776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Top Navigation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08776" y="35935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Button-based nav (no sidebar). Each section is a dedicated full page for clarity.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EduPortal  |  UI Design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Database Schema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402336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601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students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</a:rPr>
              <a:t>id (PK)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764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username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1122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password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full_name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06040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606040" cy="402336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9601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</a:rPr>
              <a:t>lecturers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417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</a:rPr>
              <a:t>id (PK)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712" y="1764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username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10712" y="21122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password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0712" y="24597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full_name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606040" cy="1362456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60120"/>
            <a:ext cx="2606040" cy="402336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9601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subjects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91072" y="14173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</a:rPr>
              <a:t>id (PK)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1072" y="1764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subject_name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21122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lecturer_username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2606040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34640"/>
            <a:ext cx="2606040" cy="402336"/>
          </a:xfrm>
          <a:prstGeom prst="rect">
            <a:avLst/>
          </a:prstGeom>
          <a:solidFill>
            <a:srgbClr val="FFA657">
              <a:alpha val="20000"/>
            </a:srgbClr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8346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</a:rPr>
              <a:t>marks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32918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</a:rPr>
              <a:t>id (PK)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36393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student_username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3986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subject_id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" y="4334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score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2834640"/>
            <a:ext cx="2606040" cy="1709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2834640"/>
            <a:ext cx="2606040" cy="402336"/>
          </a:xfrm>
          <a:prstGeom prst="rect">
            <a:avLst/>
          </a:prstGeom>
          <a:solidFill>
            <a:srgbClr val="F78166">
              <a:alpha val="20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28346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</a:rPr>
              <a:t>attendance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10712" y="32918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657"/>
                </a:solidFill>
              </a:rPr>
              <a:t>id (PK)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0712" y="363931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student_username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10712" y="3986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subject_id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10712" y="43342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percent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219456"/>
          </a:xfrm>
          <a:prstGeom prst="rect">
            <a:avLst/>
          </a:prstGeom>
          <a:solidFill>
            <a:srgbClr val="1C233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6634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Relationships: subjects.lecturer_username → lecturers.username  ·  marks/attendance.student_username → students.username  ·  marks/attendance.subject_id → subjects.id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EduPortal  |  Database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Future Enhancements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Phase 2 — ML-powered intelligence layer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548640"/>
          </a:xfrm>
          <a:prstGeom prst="rect">
            <a:avLst/>
          </a:prstGeom>
          <a:solidFill>
            <a:srgbClr val="3FB950">
              <a:alpha val="2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Phase 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Current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1216152"/>
            <a:ext cx="685800" cy="256032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2161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Live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810512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55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Login / Registration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2267712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128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Student Portal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2724912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700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Lecturer Portal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3182112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272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Charts &amp; Graphs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0352" y="3639312"/>
            <a:ext cx="91440" cy="9144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844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Leaderboard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109728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097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Phase 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</a:rPr>
              <a:t>ML 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1216152"/>
            <a:ext cx="685800" cy="256032"/>
          </a:xfrm>
          <a:prstGeom prst="rect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2161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</a:rPr>
              <a:t>Planned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56432" y="181051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1755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Performance prediction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56432" y="226771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2128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Weak-area detection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56432" y="272491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26700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Trend analysis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56432" y="3182112"/>
            <a:ext cx="91440" cy="9144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31272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Score forecasting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1097280"/>
            <a:ext cx="26517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A8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1097280"/>
            <a:ext cx="2651760" cy="548640"/>
          </a:xfrm>
          <a:prstGeom prst="rect">
            <a:avLst/>
          </a:prstGeom>
          <a:solidFill>
            <a:srgbClr val="D2A8FF">
              <a:alpha val="22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097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</a:rPr>
              <a:t>Phase 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2A8FF"/>
                </a:solidFill>
              </a:rPr>
              <a:t>Advanced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46720" y="1216152"/>
            <a:ext cx="685800" cy="256032"/>
          </a:xfrm>
          <a:prstGeom prst="rect">
            <a:avLst/>
          </a:prstGeom>
          <a:solidFill>
            <a:srgbClr val="D2A8FF">
              <a:alpha val="20000"/>
            </a:srgbClr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12161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A8FF"/>
                </a:solidFill>
              </a:rPr>
              <a:t>Future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82512" y="1810512"/>
            <a:ext cx="91440" cy="914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1755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Dynamic predictions UI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82512" y="2267712"/>
            <a:ext cx="91440" cy="914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22128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Study path suggestions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82512" y="2724912"/>
            <a:ext cx="91440" cy="914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6700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Comparative analytics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82512" y="3182112"/>
            <a:ext cx="91440" cy="91440"/>
          </a:xfrm>
          <a:prstGeom prst="ellipse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31272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</a:rPr>
              <a:t>Parent portal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EduPortal  |  Roadmap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58A6FF">
              <a:alpha val="8000"/>
            </a:srgbClr>
          </a:solidFill>
          <a:ln w="12700">
            <a:solidFill>
              <a:srgbClr val="58A6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D2A8FF">
              <a:alpha val="10000"/>
            </a:srgbClr>
          </a:solidFill>
          <a:ln w="12700">
            <a:solidFill>
              <a:srgbClr val="D2A8FF">
                <a:alpha val="2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EDF3"/>
                </a:solidFill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EduPortal — Smart Academic Management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3063240"/>
            <a:ext cx="15087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0906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36210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Portals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3063240"/>
            <a:ext cx="15087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30906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80360" y="36210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DB Tables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15087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0906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</a:rPr>
              <a:t>12+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36210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3063240"/>
            <a:ext cx="15087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0906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8A6FF"/>
                </a:solidFill>
              </a:rPr>
              <a:t>ML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46520" y="36210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Questions &amp; Discussion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EduPortal  |  Academic Year 2025–26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EduPortal – Smart Academic Management System</dc:title>
  <dc:subject>PptxGenJS Presentation</dc:subject>
  <dc:creator>PptxGenJS</dc:creator>
  <cp:lastModifiedBy>PptxGenJS</cp:lastModifiedBy>
  <cp:revision>1</cp:revision>
  <dcterms:created xsi:type="dcterms:W3CDTF">2026-04-07T07:36:21Z</dcterms:created>
  <dcterms:modified xsi:type="dcterms:W3CDTF">2026-04-07T07:36:21Z</dcterms:modified>
</cp:coreProperties>
</file>